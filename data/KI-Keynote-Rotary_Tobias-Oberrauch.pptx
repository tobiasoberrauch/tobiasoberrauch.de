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KEYNOTE  -  ROTARY CLUB  -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Künstliche Intelligenz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europäisch, souverän, nachhaltig.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DE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wir als Europäer im Mittelstand das Zeitalter der Maschinen menschlich gestalten.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852160"/>
            <a:ext cx="164592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943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Tobias Oberrauch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Geschäftsführer  -  Rotarier  -  Vater  -  Elterngruppenleiter Hochbegabtenförderung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137160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Zukunft ist nicht ein Ort, an den wir gehen.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 ist ein Ort, den wir bauen.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371600" y="4297680"/>
            <a:ext cx="18288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480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2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Eine Widmung an alle, die heute Verantwortung tragen - und an ihre Kinder.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 /  42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WER ICH BIN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Mensch, vier Rollen, ein Kompass.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267919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Vater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intimste Schule des Lebens.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06240"/>
            <a:ext cx="2130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erziehe meine Kinder nicht für die Welt von gestern - sondern für eine, die wir gemeinsam gestalten.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2424" y="2194560"/>
            <a:ext cx="267919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219456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66744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6744" y="28803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Geschäftsführer &amp; KI-Beauftragter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66744" y="35204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Verantwortung für Menschen, Produkte, Richtung.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66744" y="40690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66744" y="4206240"/>
            <a:ext cx="2130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führe ein Unternehmen - und bringe KI hinein: als derjenige, der dafür am Ende geradesteht.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08" y="2194560"/>
            <a:ext cx="267919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19456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10528" y="28803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Rotarier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10528" y="35204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above self.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10528" y="40690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4206240"/>
            <a:ext cx="2130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handle nach einem Kompass, der 1932 gezimmert wurde und 2026 scharf wie ein Skalpell ist.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79992" y="2194560"/>
            <a:ext cx="267919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79992" y="219456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312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54312" y="28803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Elterngr.-Leiter DGhK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354312" y="35204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Für die jungen, klugen Köpfe.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54312" y="40690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4206240"/>
            <a:ext cx="2130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Hochbegabung ist ein Geschenk, das Führung, Schutz und das richtige Feuer braucht.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 /  42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MEIN WEG MIT KI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baue, worüber andere sprechen.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Zwei Jahre Microsoft. Ehem. Leiter KI-Bundesverband. Heute: Geschäftsführer, KI-Beauftragter - und Baumeister eines eigenen KI-Stacks.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STATIONEN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94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73152" cy="685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35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99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 - zwei Jahre Cloud, Enterprise, KI auf Weltklasse-Niveau.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394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03320"/>
            <a:ext cx="73152" cy="685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13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776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KI-Bundesverband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Ehemaliger Leiter - am Tisch, wenn Deutschland seine KI-Zukunft verhandelt.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5394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80560"/>
            <a:ext cx="73152" cy="685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90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553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Geschäftsführung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Verantwortung für Menschen, Produkte, Kunden - und für die Richtung.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3949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57800"/>
            <a:ext cx="73152" cy="685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67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330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KI-Beauftragter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Derjenige, der KI ins Unternehmen bringt - ethisch, praktisch, wirksam.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560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ICH HEUTE BAUE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26080"/>
            <a:ext cx="5669280" cy="146304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2926080"/>
            <a:ext cx="56692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154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500.000 €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9646920" y="3108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Hardware-Stack unter meiner Hand - GPU-Cluster, Compute-Fabric, souveräne Infrastruktur.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526280"/>
            <a:ext cx="180136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4526280"/>
            <a:ext cx="1801368" cy="7315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4754880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0" y="5239512"/>
            <a:ext cx="457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5330952"/>
            <a:ext cx="1435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GPUs, Netzwerk - physikalisch souverän.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56448" y="4526280"/>
            <a:ext cx="180136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56448" y="4526280"/>
            <a:ext cx="1801368" cy="7315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40" name="Text 38"/>
          <p:cNvSpPr/>
          <p:nvPr/>
        </p:nvSpPr>
        <p:spPr>
          <a:xfrm>
            <a:off x="8339328" y="4754880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39328" y="5239512"/>
            <a:ext cx="457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5330952"/>
            <a:ext cx="1435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LLM-Gateway, RAG, Agenten - orchestriert.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094976" y="4526280"/>
            <a:ext cx="180136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94976" y="4526280"/>
            <a:ext cx="1801368" cy="7315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45" name="Text 43"/>
          <p:cNvSpPr/>
          <p:nvPr/>
        </p:nvSpPr>
        <p:spPr>
          <a:xfrm>
            <a:off x="10277856" y="4754880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Lösungen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277856" y="5239512"/>
            <a:ext cx="457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77856" y="5330952"/>
            <a:ext cx="1435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die den Mittelstand wirklich bewegen.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 /  42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MICH ANTREIBT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will nicht nur Technik bauen.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will Verständnis bauen.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 des Verständnisses.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 zwischen dem, was Maschinen können, und dem, was Menschen brauchen, liegt ein Graben. Ihn zu überbrücken - mit Weisheit, mit Werten, mit Mut - ist die eigentliche Aufgabe unserer Zeit. Künstliche Intelligenz ist das Werkzeug. Menschliche Intelligenz ist der Architekt. Beide brauchen einander.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 /  42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REISE HEUTE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Sechs Akte. Ein Versprechen.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11109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73152" cy="585216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6771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ich bin, warum dieser Moment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Ein Mensch. Vier Rollen. Ein Kompass.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11109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52928"/>
            <a:ext cx="73152" cy="585216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2944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Stunde Europas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29900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Weckruf, AI Act, die vier Rotary-Fragen.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11109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11296"/>
            <a:ext cx="73152" cy="585216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8444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6027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Europäische Souveränität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36484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Champions, GAIA-X, Identität als Stärke.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11109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69664"/>
            <a:ext cx="73152" cy="585216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4281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45920" y="42611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Mittelstand als Herzkammer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43068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36 %, Hürden, Erfolgsgeschichten, Fahrplan.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828032"/>
            <a:ext cx="11109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828032"/>
            <a:ext cx="73152" cy="585216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90118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45920" y="4919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Mensch, Maschine, Bildung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23760" y="4965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Hochbegabung, Verstehen, Weisheit.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1109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486400"/>
            <a:ext cx="73152" cy="585216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55955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64592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Hoffnung Europa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3760" y="5623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wir tun - heute.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 /  42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AKT  II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9144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Stunde Europas.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stehen nicht auf einem Feld der Niederlage. Wir stehen auf einer Schwelle.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Draghi-Report, InvestAI, AI Act - die Bausteine eines Aufbruchs.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 /  42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STANDORTBESTIMMUNG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Europa heute steht.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Nüchtern betrachtet. Ehrlich benannt. Entschlossen angepackt.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5176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718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750-800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Mrd. EUR / Jahr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7548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Investitionslücke, die Draghi benennt, um mit USA &amp; China aufzuschließen.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65176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65176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9718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461772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Mrd. EUR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47548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InvestAI-Initiative der EU-Kommission (Feb 2025) - der größte KI-Hebel Europas.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65176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65176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9718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36 %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841248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deutscher Mittelstand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47548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892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 KI bereits - Verdopplung in einem Jahr (Bitkom / IW Köln 2025).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 /  42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 WECKRUF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Mario Draghi - "Eine Frage des Überlebens."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62179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73152" cy="393192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Ohne neue Strategie riskiert Europa langsames Siechtum. Die Lücke zu USA und China schließt sich nicht von selbst.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4846320"/>
            <a:ext cx="13716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Mario Draghi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 on European Competitiveness  -  September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DREI HANDLUNGSFELDER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606040"/>
            <a:ext cx="4846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606040"/>
            <a:ext cx="73152" cy="10058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715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0" y="2697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0" y="3108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Forschung zu Marktführerschaft - Lücke schließen.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3749040"/>
            <a:ext cx="4846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3749040"/>
            <a:ext cx="73152" cy="10058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3858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0" y="3840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Dekarbonisierung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0" y="4251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Klimaziele als Industrie-Programm, nicht als Bürde.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4892040"/>
            <a:ext cx="4846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892040"/>
            <a:ext cx="73152" cy="10058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5001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0" y="4983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Souveränität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0" y="5394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Abhängigkeiten senken - Chips, Rohstoffe, Cloud, KI.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 /  42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 EUROPAEISCHE WEG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AI Act - Regeln als Kultur.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Während andere beschleunigen, regeln wir - nicht um zu bremsen, sondern um Vertrauen zu bauen. Vertrauen ist der Rohstoff, aus dem Märkte wachsen.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67919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unannehmbarer Risiken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21305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Scoring, manipulative KI - in Europa untersagt.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2424" y="2697480"/>
            <a:ext cx="267919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269748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66744" y="30175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HOCHRISIKO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66744" y="35661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strenger Rahmen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66744" y="40233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4160520"/>
            <a:ext cx="21305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Medizin, Kritische Infrastruktur, HR - nur mit Transparenz.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6208" y="2697480"/>
            <a:ext cx="267919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269748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0175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TRANSPARENZ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10528" y="35661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für alle Nutzer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10528" y="40233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4160520"/>
            <a:ext cx="21305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Kennzeichnung: Ich spreche mit einem Menschen oder einer Maschine?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79992" y="2697480"/>
            <a:ext cx="267919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9992" y="269748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7" name="Text 25"/>
          <p:cNvSpPr/>
          <p:nvPr/>
        </p:nvSpPr>
        <p:spPr>
          <a:xfrm>
            <a:off x="9354312" y="30175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MINIMALES RISIKO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54312" y="35661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freies Spielfeld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54312" y="40233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54312" y="4160520"/>
            <a:ext cx="21305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Assistenten, Kreativwerkzeuge - ohne zusätzliche Hebel.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 /  42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ZEITACHSE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gilt wann.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840480"/>
            <a:ext cx="10424160" cy="0"/>
          </a:xfrm>
          <a:prstGeom prst="line">
            <a:avLst/>
          </a:prstGeom>
          <a:noFill/>
          <a:ln w="25400">
            <a:solidFill>
              <a:srgbClr val="C9A1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703320"/>
            <a:ext cx="274320" cy="274320"/>
          </a:xfrm>
          <a:prstGeom prst="ellipse">
            <a:avLst/>
          </a:prstGeom>
          <a:solidFill>
            <a:srgbClr val="C9A14A"/>
          </a:solidFill>
          <a:ln w="25400">
            <a:solidFill>
              <a:srgbClr val="0B1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02.02.2025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Verbote aktiv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" y="4160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Verbotene KI-Praktiken, Pflicht zur KI-Kompetenz.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3703320"/>
            <a:ext cx="274320" cy="274320"/>
          </a:xfrm>
          <a:prstGeom prst="ellipse">
            <a:avLst/>
          </a:prstGeom>
          <a:solidFill>
            <a:srgbClr val="C9A14A"/>
          </a:solidFill>
          <a:ln w="25400">
            <a:solidFill>
              <a:srgbClr val="0B1C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02.08.2025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Sanktionen scharf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4160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Bußgelder bis 35 Mio. EUR oder 7 % des Umsatzes.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3703320"/>
            <a:ext cx="274320" cy="274320"/>
          </a:xfrm>
          <a:prstGeom prst="ellipse">
            <a:avLst/>
          </a:prstGeom>
          <a:solidFill>
            <a:srgbClr val="C9A14A"/>
          </a:solidFill>
          <a:ln w="25400">
            <a:solidFill>
              <a:srgbClr val="0B1C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02.08.2026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Hauptphase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4160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Verbleibende Bestimmungen, KMU-Erleichterungen.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3703320"/>
            <a:ext cx="274320" cy="274320"/>
          </a:xfrm>
          <a:prstGeom prst="ellipse">
            <a:avLst/>
          </a:prstGeom>
          <a:solidFill>
            <a:srgbClr val="C9A14A"/>
          </a:solidFill>
          <a:ln w="25400">
            <a:solidFill>
              <a:srgbClr val="0B1C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2027/28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Hochrisiko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4160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Anhang III: Dez 2027, Anhang I: Aug 2028.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Empfehlung für den Mittelstand: KI-Register einführen + Transparenz-Hinweise in der Datenschutzerklärung - damit sind 80 % der Pflichten erfüllt.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 /  42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 KOMPASS DER ROTARIER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Vier-Fragen-Probe.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1932 - Herbert J. Taylor, Chicago.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DE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Unternehmen vor dem Konkurs. Ein einfacher Zettel, vier Fragen. Und die Rettung.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 es die Wahrheit?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 es fair für alle Beteiligten?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Wird es Wohlwollen und bessere Freundschaften fördern?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5440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Wird es den Beteiligten nützen?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 /  42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ROTARY TRIFFT KI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Kompass aus 1932. Schärfer als je zuvor.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Wenn Maschinen sprechen, schreiben, entscheiden - dann braucht es eine ältere, tiefere Frage: Ist es wahr? Ist es fair? Baut es Vertrauen? Nützt es den Menschen? Diese vier Fragen sind unser ethisches Betriebssystem für das Zeitalter der KI.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40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00400"/>
            <a:ext cx="73152" cy="292608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Fragen für Taten, Worte, Geschäfte.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177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Damals richteten sich die Fragen an Menschen. Wer lügt, wer bevorteilt, wer spaltet, wer schadet - das war sichtbar, besprechbar, korrigierbar.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440680" cy="292608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3200400"/>
            <a:ext cx="73152" cy="292608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Fragen für Algorithmen, Modelle, Daten.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44805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6177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müssen wir die Fragen erneut stellen - an unsichtbare Systeme, die Millionen berühren, bevor wir hinsehen können. Unsere Antwort: Transparenz, Fairness, Vertrauen, Nutzen.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 /  42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1. FRAGE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"Ist es die Wahrheit?"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KI heißt das: Halluzinationen entlarven. Quellen offenlegen. Fakten verifizieren.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90448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8130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Transparenz der Datenbasis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4206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Modell ist nur so wahr wie die Daten, mit denen wir es füttern.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72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5902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Herkunft und Verifikation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983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kennzeichnen KI-generierte Inhalte - immer, klar, unmissverständlich.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5896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49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3675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Menschliche Gegenprüfung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5156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wichtiges Dokument verlässt das Haus, ohne dass ein Mensch hinsieht.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 /  42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2. FRAGE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"Ist es fair für alle Beteiligten?"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KI heißt das: Bias prüfen. Minderheiten schützen. Gleiche Chancen wahren.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90448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8130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Bias-Audits im Einsatz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4206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testen Modelle auf Diskriminierung, bevor sie entscheiden.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72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5902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Zugang für alle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983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darf kein Privileg der Großen sein - der Mittelstand braucht Teilhabe.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5896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49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3675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die nächsten Generationen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5156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treffen heute Entscheidungen, die unsere Kinder einst verantworten.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  /  42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3. FRAGE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"Fördert es Wohlwollen und Freundschaft?"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KI heißt das: Vertrauen bauen. Menschen verbinden. Brücken statt Gräben.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90448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8130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 als Verbinder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4206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Übersetzung, Inklusion, barrierefreier Zugang - Maschinen als Brücke zwischen Menschen.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72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5902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Transparente Absicht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983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verstecken nicht, wo und warum KI im Spiel ist. Offenheit schafft Wohlwollen.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5896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49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3675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Gemeinschaft statt Ersatz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5156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stärkt den Rotary-Club, die Familie, das Team - sie ersetzt keine Beziehung.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 /  42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4. FRAGE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"Nützt es den Beteiligten?"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KI heißt das: Menschen entlasten, nicht ersetzen. Wert schaffen, nicht extrahieren.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90448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8130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Zeit zurückgewinnen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4206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übernimmt Routine - der Mensch gewinnt Raum für das Wesentliche.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72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5902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Wertschöpfung teilen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983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Produktivitätsgewinne gehören auch den Mitarbeitenden - nicht nur der Bilanz.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58968"/>
            <a:ext cx="320040" cy="320040"/>
          </a:xfrm>
          <a:prstGeom prst="ellipse">
            <a:avLst/>
          </a:prstGeom>
          <a:solidFill>
            <a:srgbClr val="C9A1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49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3675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Gemeinwohl als Maßstab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5156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Nützt es der Gesellschaft? Nützt es der Umwelt? Sonst ist es nicht genug.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 /  42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AKT  III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9144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Souveränität.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Isolation. Nicht Abschottung. Sondern die Fähigkeit, in Freiheit zu entscheiden.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Europäische Champions - der Beweis, dass wir können.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  /  42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EUROPAEISCHE CHAMPIONS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können es. Wir tun 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Während wir diskutieren, ob Europa zurückfaellt, bauen diese Unternehmen die Zukunft - mit europäischen Werten, europäischen Daten, europäischer Verantwortung.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73152" cy="178308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AI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Paris, FR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Sprachmodelle auf Weltklasse-Niveau. 1,7 Mrd. EUR Series C, eigenes Rechenzentrum mit 13.800 GPUs.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26974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697480"/>
            <a:ext cx="73152" cy="178308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Forest Labs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Freiburg, 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Bildgenerierung FLUX - 86 % Weltmarktanteil. Kunden: Adobe, Canva, Microsoft, Netflix.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269748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697480"/>
            <a:ext cx="73152" cy="178308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Aleph Alpha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3200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Heidelberg, 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3520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Deutscher KI-Champion mit Schwarz-Gruppe als Anker. Souveräne Enterprise-KI.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663440"/>
            <a:ext cx="73152" cy="178308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7240" y="5166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Köln, 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4864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Übersetzung, die ChatGPT schlägt: 1,7x bessere Qualität. Voice-to-Voice Live seit 2026.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43400" y="466344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4663440"/>
            <a:ext cx="73152" cy="178308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Silo AI / AMD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572000" y="5166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Helsinki, FI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4864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Modelle Poro &amp; Viking. 665 Mio. USD durch AMD-Übernahme - Europa skaliert.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466344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4663440"/>
            <a:ext cx="73152" cy="178308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Nebius / OVHcloud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366760" y="5166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EU-weit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66760" y="54864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Europäische Cloud-Infrastruktur. Daten bleiben in Europa - auch rechtlich, nicht nur physisch.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  /  42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MODELL-BAUER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Sprache, Bild, Übersetzung - made in Europe.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Mio. USD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57200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63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Fremdfinanzierung 2026 für das Pariser Rechenzentrum. Mistral Large 3 mit 41 Mrd. aktiven Parametern - europäische Antwort auf GPT-4.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669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Ziel: 1 Mrd. USD ARR bis Ende 2026.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28600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FOREST LABS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3063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86 %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4572000" y="4206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Weltmarktanteil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457200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663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FLUX.2 dominiert die kommerzielle Bildgenerierung. 3,25 Mrd. USD Bewertung, 300 Mio. USD Funding. Aus Freiburg - in die Welt.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5669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Kunden: Adobe, Canva, Microsoft, Netflix, Telekom, Burda.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228600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28600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6760" y="3063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1,7x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8366760" y="4206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besser als GPT-4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66760" y="457200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663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Unabhängige Blindtests: DeepL schlägt die US-Giganten bei professioneller Übersetzung. 2 Mrd. USD Bewertung, seit 2026 Voice-to-Voice Live.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5669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Kölner Unternehmen. Weltrekord in Präzision.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  /  42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INFRASTRUKTUR-BAUER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Enterprise-KI und europäische Cloud.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73152" cy="187452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ALEPH ALPHA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Heidelberg - 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strategischer Wende 2025 neue Führung. Schwarz-Gruppe als Anker. Fokus: souveräne Enterprise-KI für deutsche Großunternehmen und öffentliche Hand.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286000"/>
            <a:ext cx="73152" cy="187452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4688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SILO AI / AMD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Helsinki - FI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31546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Modelle Poro und Viking. 665 Mio. USD AMD-Deal. Europas größte KI-F&amp;E-Organisation vor dem Exit - jetzt skaliert mit globalem Rückhalt.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43400"/>
            <a:ext cx="73152" cy="187452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26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NEBIUS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Amsterdam - NL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Blackwell Ultra GPUs in Europa. 75 MW Finnland-Rechenzentrum. 800 Gbps Quantum-X800 Netzwerk - die schnellste KI-Cloud auf unserem Kontinent.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3434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4343400"/>
            <a:ext cx="73152" cy="187452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526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OVHCLOUD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48920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Roubaix - FR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1,084 Mrd. EUR Umsatz 2024. Souveräne Cloud für Verteidigung, Industrie, Mittelstand. Deutsche Daten bleiben in europäischem Recht.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  /  42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INFRASTRUKTUR DER FREIHEIT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GAIA-X und der EuroStack.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Cloud ist mehr als ein Rechenzentrum. Sie ist die Frage: Wer verwaltet unsere Daten? Wer darf sie sehen? Wessen Rechtsordnung gilt, wenn ein Konflikt entsteht?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11880" cy="297180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92608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FRAMEWORK 3.0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"Danube"-Release, November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43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Regeln für Datenaustausch: Wer darf was mit wessen Daten? Verbindliche Zertifizierung statt Wildwuchs.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926080"/>
            <a:ext cx="3611880" cy="297180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292608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180+ DATA SPACES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Branchen und Regionen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420624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343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Mobility über Health bis Finance - Sektor-Clouds, in denen Deutschland und Europa gemeinsame Standards setzen.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926080"/>
            <a:ext cx="3611880" cy="297180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292608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EUROSTACK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EU-Cloud 2025-2030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12480" y="420624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343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Homegrown Full-Stack-Alternative: Souveräne Chips, Cloud, KI-Modelle - ein Kontinent, der seine Infrastruktur selbst in der Hand hält.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Souveränität heißt: Europäisches Recht gilt auch dort, wo die Daten liegen.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  /  42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EUROPAEISCHE IDENTITAET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Unsere Werte sind keine Bürde.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 sind unser Wettbewerbsvorteil.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657600"/>
            <a:ext cx="2679192" cy="2286000"/>
          </a:xfrm>
          <a:prstGeom prst="rect">
            <a:avLst/>
          </a:prstGeom>
          <a:solidFill>
            <a:srgbClr val="07142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657600"/>
            <a:ext cx="2679192" cy="54864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862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Würde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443484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572000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Mensch im Zentrum. Die DSGVO war Vorhut, der AI Act ist Hauptarmee.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2424" y="3657600"/>
            <a:ext cx="2679192" cy="2286000"/>
          </a:xfrm>
          <a:prstGeom prst="rect">
            <a:avLst/>
          </a:prstGeom>
          <a:solidFill>
            <a:srgbClr val="071428"/>
          </a:solidFill>
          <a:ln/>
        </p:spPr>
      </p:sp>
      <p:sp>
        <p:nvSpPr>
          <p:cNvPr id="14" name="Shape 12"/>
          <p:cNvSpPr/>
          <p:nvPr/>
        </p:nvSpPr>
        <p:spPr>
          <a:xfrm>
            <a:off x="3392424" y="3657600"/>
            <a:ext cx="2679192" cy="54864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21024" y="38862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Wahrheit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21024" y="443484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4572000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Wissenschaftsskepsis verboten. Faktenbasis als Grundkonsens - Aufklärung 2.0.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6208" y="3657600"/>
            <a:ext cx="2679192" cy="2286000"/>
          </a:xfrm>
          <a:prstGeom prst="rect">
            <a:avLst/>
          </a:prstGeom>
          <a:solidFill>
            <a:srgbClr val="07142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36208" y="3657600"/>
            <a:ext cx="2679192" cy="54864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08" y="38862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Solidarität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64808" y="443484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4572000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Kontinent hat so viele Minderheitenschutz-Mechanismen wie Europa.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79992" y="3657600"/>
            <a:ext cx="2679192" cy="2286000"/>
          </a:xfrm>
          <a:prstGeom prst="rect">
            <a:avLst/>
          </a:prstGeom>
          <a:solidFill>
            <a:srgbClr val="071428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9992" y="3657600"/>
            <a:ext cx="2679192" cy="54864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5" name="Text 23"/>
          <p:cNvSpPr/>
          <p:nvPr/>
        </p:nvSpPr>
        <p:spPr>
          <a:xfrm>
            <a:off x="9308592" y="38862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Vertrauen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308592" y="443484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08592" y="4572000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Rechtsstaat, soziale Marktwirtschaft, Subsidiarität - was wir haben, fehlt anderen.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  /  42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AKT  IV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9144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Mittelstand -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Herzkammer Europas.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DE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 Millionen Unternehmen. 55 % der Arbeitsplätze. 99 % aller Firmen. Hier entscheidet sich, ob Europa gewinnt oder verliert.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  /  42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STATUS QUO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Mittelstand ist auf dem Weg.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51760"/>
            <a:ext cx="54864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548640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36 %</a:t>
            </a:r>
            <a:endParaRPr lang="en-US" sz="12000" dirty="0"/>
          </a:p>
        </p:txBody>
      </p:sp>
      <p:sp>
        <p:nvSpPr>
          <p:cNvPr id="9" name="Shape 7"/>
          <p:cNvSpPr/>
          <p:nvPr/>
        </p:nvSpPr>
        <p:spPr>
          <a:xfrm>
            <a:off x="822960" y="45262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63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deutschen Unternehmen nutzen KI heute 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Verdopplung gegenüber 2024.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Quelle: Bitkom Research / IW Köln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5212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377440"/>
            <a:ext cx="73152" cy="7772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4688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138160" y="2560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planen oder diskutieren KI-Einsatz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246120"/>
            <a:ext cx="5212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246120"/>
            <a:ext cx="73152" cy="7772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3375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81 %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13816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halten KI für wichtigste Zukunftstechnologie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14800"/>
            <a:ext cx="5212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114800"/>
            <a:ext cx="73152" cy="7772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206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13816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sagen: KI ist für uns kein Thema (2024: 41 %)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983480"/>
            <a:ext cx="73152" cy="7772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5074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138160" y="5166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 KI in mehreren Unternehmensbereichen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  /  42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WAHRHEIT UEBER DIE HUERDEN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Hürden - und drei Lösungen.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die Mittelständler wirklich bremst - und wie wir es auflösen.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73152" cy="11430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43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Rechtliche Unsicherheit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Datenschutz, AI Act, Haftung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651760"/>
            <a:ext cx="1005840" cy="777240"/>
          </a:xfrm>
          <a:prstGeom prst="rect">
            <a:avLst/>
          </a:prstGeom>
          <a:solidFill>
            <a:srgbClr val="FAF6EC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7432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53 %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408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LOESUNG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0" y="2834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KI-Register einführen, Transparenz-Hinweise in der DSGVO-Erklärung. 80 % der Pflichten sind so erfüllt.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21608"/>
            <a:ext cx="11064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21608"/>
            <a:ext cx="73152" cy="11430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959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463040" y="3858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Fehlendes Know-how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270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soll das verstehen und umsetzen?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3904488"/>
            <a:ext cx="1005840" cy="777240"/>
          </a:xfrm>
          <a:prstGeom prst="rect">
            <a:avLst/>
          </a:prstGeom>
          <a:solidFill>
            <a:srgbClr val="FAF6EC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399592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52 %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LOESUNG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40873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KI-Kompetenz als Pflichtschulung. Rotary, IHK, DGhK als Bildungspartner. Gemeinsame Lernreisen.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974336"/>
            <a:ext cx="11064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74336"/>
            <a:ext cx="73152" cy="11430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2486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1463040" y="51114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Fehlende Ressourcen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5229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teuer, zu komplex, zu viele Projekte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5157216"/>
            <a:ext cx="1005840" cy="777240"/>
          </a:xfrm>
          <a:prstGeom prst="rect">
            <a:avLst/>
          </a:prstGeom>
          <a:solidFill>
            <a:srgbClr val="FAF6EC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524865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51 %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40880" y="5111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LOESUNG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40880" y="534009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 anfangen: ein Use Case, acht Wochen, messbarer Nutzen. Nur so entsteht Mut und Momentum.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  /  42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ERFOLGSGESCHICHTEN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Mittelstand, der beweist, dass es geht.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180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Möbelbau - Berlin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74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 t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Material eingespart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9834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74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Bauteil-Erkennung in 20 Projekten. 10 t Stahl, 65 t Holz jährlich weniger. Nachhaltigkeit durch Intelligenz.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228600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28600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INDUSTRIE-CASE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971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Predictive Maintenance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3375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474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42 %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4572000" y="4572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Fehlerquote gesenkt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9834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5074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Maschinendaten-Plattform erkennt Ausfälle, bevor sie entstehen. Ergebnis: weniger Stillstand, mehr Qualität, höhere Marge.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28600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228600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HANDEL &amp; LOGISTIK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66760" y="2971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Bedarfsprognose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66760" y="33375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3474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30 %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8366760" y="4572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weniger Lagerkosten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66760" y="49834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5074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prognostiziert Nachfrage pro Filiale und Saison. Weniger Ladenhüter, weniger Engpässe, zufriedenere Kunden - und frei gewordenes Kapital.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27  /  42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SIEBEN TUEREN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KI im Mittelstand heute wirkt.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Nicht alle Türen gleichzeitig öffnen. Aber irgendwo muss man anfangen.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73152" cy="16916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Kundenservice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die wirklich helfen - 50 % schnellere Antwortzeit.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0" y="246888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468880"/>
            <a:ext cx="73152" cy="16916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4" name="Text 12"/>
          <p:cNvSpPr/>
          <p:nvPr/>
        </p:nvSpPr>
        <p:spPr>
          <a:xfrm>
            <a:off x="3675888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5888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Vertrieb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75888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qualifizieren, Angebote personalisieren, Abschlussquoten heben.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246888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468880"/>
            <a:ext cx="73152" cy="16916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9" name="Text 17"/>
          <p:cNvSpPr/>
          <p:nvPr/>
        </p:nvSpPr>
        <p:spPr>
          <a:xfrm>
            <a:off x="6601968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01968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Dokumente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01968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Verträge, Rechnungen, Formulare - in Sekunden statt Stunden.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26880" y="246888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2468880"/>
            <a:ext cx="73152" cy="16916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8048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28048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Produktion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28048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- 42 % weniger Fehler, längere Maschinenlaufzeit.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0" y="434340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0" y="4343400"/>
            <a:ext cx="73152" cy="16916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9" name="Text 27"/>
          <p:cNvSpPr/>
          <p:nvPr/>
        </p:nvSpPr>
        <p:spPr>
          <a:xfrm>
            <a:off x="2212848" y="4480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12848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Lager &amp; Logistik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212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Bedarfsprognosen - 30 % weniger Kapitalbindung.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434340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4343400"/>
            <a:ext cx="73152" cy="16916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4480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38928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13892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Inhalte, Zielgruppen, Kampagnen - personalisiert, getestet, optimiert.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63840" y="4343400"/>
            <a:ext cx="27432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4343400"/>
            <a:ext cx="73152" cy="16916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9" name="Text 37"/>
          <p:cNvSpPr/>
          <p:nvPr/>
        </p:nvSpPr>
        <p:spPr>
          <a:xfrm>
            <a:off x="8065008" y="4480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65008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&amp; Recruiting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06500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 finden, Bewerbungen screenen, Onboarding automatisieren.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  /  42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 FAHRPLAN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Fünf Schritte für den Mittelständler.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Von der Neugier zur Wertschöpfung. In 100 Tagen. Ohne Millionenbudget.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73152" cy="685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0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Zuhören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257860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drückt der Schuh? Welche Routine kostet Zeit ohne Wert? Die besten Use Cases sind schon im Haus.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27832"/>
            <a:ext cx="73152" cy="685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192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Use Case wählen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Schmal, messbar, mit klarem Eigentümer. Nicht: Wir machen KI. Sondern: Wir reduzieren Angebots-Zeit um 40 %.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86784"/>
            <a:ext cx="73152" cy="685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782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37360" y="40782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in 8 Wochen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0" y="409651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Kleines Team, klare Ziele, europäische Werkzeuge. Mistral, Aleph Alpha, DeepL - die Auswahl ist da.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45736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745736"/>
            <a:ext cx="73152" cy="685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8371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37360" y="48371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Menschen befähigen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0" y="485546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Schulung vor Skalierung. Die beste Technik scheitert ohne befähigte Mitarbeitende.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504688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504688"/>
            <a:ext cx="73152" cy="685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5961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737360" y="5596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Skalieren mit Haltung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029200" y="561441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Vier-Fragen-Probe bei jeder Ausweitung: Wahrheit, Fairness, Wohlwollen, Nutzen.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29  /  42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MEIN KI-STACK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Mein Stack. Schicht für Schicht.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Nicht Theorie. Nicht Berater-Folien. Ein souveräner KI-Stack, den ich selbst baue.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730752" cy="365760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14600"/>
            <a:ext cx="373075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k €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physikalische Schicht.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31821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GPU-Compute-Cluster für Training &amp; Inferenz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Hochperformantes Netzwerk, Storage, Cooling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- souverän, datenschutzkonform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 betrieben, effizient ausgelegt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16552" y="2514600"/>
            <a:ext cx="373075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6552" y="2514600"/>
            <a:ext cx="373075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6" name="Text 14"/>
          <p:cNvSpPr/>
          <p:nvPr/>
        </p:nvSpPr>
        <p:spPr>
          <a:xfrm>
            <a:off x="4690872" y="27432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0872" y="306324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4690872" y="40233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416052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intelligente Schicht.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90872" y="4617720"/>
            <a:ext cx="31821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 mit Policy &amp; Audit-Trail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Wissensgraphen, Vektorsuche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Agenten-Orchestrierung, Workflow-Engine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Evaluierung, Governance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84464" y="2514600"/>
            <a:ext cx="373075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2514600"/>
            <a:ext cx="373075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3" name="Text 21"/>
          <p:cNvSpPr/>
          <p:nvPr/>
        </p:nvSpPr>
        <p:spPr>
          <a:xfrm>
            <a:off x="8558784" y="27432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LÖSUNGEN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58784" y="306324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8558784" y="402336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8784" y="416052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wirkungsvolle Schicht.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58784" y="4617720"/>
            <a:ext cx="31821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die echte Probleme lösen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 bestehende Prozesse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Rollenbasierte KI-Assistenten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Messbar: Zeit, Qualität, Zufriedenheit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spreche nicht über KI - ich baue KI. Europäisch: offen, dokumentiert, grundrechte-treu, nachhaltig.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 /  42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NACHHALTIGKEIT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Grüne KI ist keine Option. Sie ist der Weg.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braucht Energie. Sehr viel Energie. Europa kann die Antwort geben - mit grüner Infrastruktur und effizienten Modellen.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79192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+11x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777240" y="438912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262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Stromverbrauch Rechenzentren weltweit bis 2030 (IEA-Prognose).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2424" y="2743200"/>
            <a:ext cx="2679192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274320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3246120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3621024" y="438912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45262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Verdreifachung des Verbrauchs allein in Europa bis 2030 (McKinsey).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2743200"/>
            <a:ext cx="2679192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274320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3246120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664 Mrd.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64808" y="438912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5262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 Wasser pro Jahr bis 2030 für Kühlung weltweit benötigt.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79992" y="2743200"/>
            <a:ext cx="2679192" cy="310896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23" name="Shape 21"/>
          <p:cNvSpPr/>
          <p:nvPr/>
        </p:nvSpPr>
        <p:spPr>
          <a:xfrm>
            <a:off x="9079992" y="2743200"/>
            <a:ext cx="2679192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4" name="Text 22"/>
          <p:cNvSpPr/>
          <p:nvPr/>
        </p:nvSpPr>
        <p:spPr>
          <a:xfrm>
            <a:off x="9262872" y="3246120"/>
            <a:ext cx="2313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JUPITER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9308592" y="438912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45262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Europas neuer Supercomputer in Jülich - energieeffizient, 1 Trillion Ops/s.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Europäische Antwort: Rechenzentren an Windkraft, Solar, Wasserkraft. Effizientere Modelle. AI-Act-Pflicht zur Energiedokumentation. Verantwortung by design.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31  /  42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AKT  V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9144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Mensch &amp; Maschine.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eigentliche Revolution ist nicht technisch. Sie ist pädagogisch.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DE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Wenn Maschinen klug werden, müssen Menschen weise werden.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  /  42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 MENSCH IM ZENTRUM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 als Verstärker - nicht als Ersatz.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Frage ist nicht, ob KI uns ersetzt. Die Frage ist, wie wir sie so einsetzen, dass sie das Menschliche in uns vergrößert - nicht verkleinert.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4406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73152" cy="32918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FALSCH VERSTANDEN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Automatisierung um des Sparens willen.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 ersetzen, um Kosten zu senken.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Entscheidungen an Blackboxen delegieren.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Produktivität als einziger Maßstab.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scheitern - aber mit mehr Folgen.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926080"/>
            <a:ext cx="5440680" cy="329184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2926080"/>
            <a:ext cx="73152" cy="32918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RICHTIG VERSTANDEN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3566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Augmentation: Menschen größer machen.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446520" y="42976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4348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entlasten, Raum für Urteil schaffen.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entscheidet, Maschine bereitet vor.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Würde, Sinn und Lernen als Maßstab.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Tiefer denken - mit mehr Zeit für das Wichtige.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  /  42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HOCHBEGABUNG UND KI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jungen, klugen Köpfe - unsere Zukunft.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62179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73152" cy="41148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Hochbegabung ist kein Privileg. Sie ist Verantwortung. Für die Kinder - und für die Gesellschaft, die sie braucht.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4572000"/>
            <a:ext cx="13716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70916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Elterngruppenleiter der DGhK erlebe ich: Die hellsten Köpfe langweilen sich. KI kann sie fordern, füttern, fördern - wenn wir sie menschlich begleiten.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DREI POTENZIALE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2606040"/>
            <a:ext cx="4846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2606040"/>
            <a:ext cx="73152" cy="11430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Personalisierung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31089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Lernpfade, die auf das jeweilige Kind eingehen - keine Norm-Didaktik mehr.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3886200"/>
            <a:ext cx="4846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3886200"/>
            <a:ext cx="73152" cy="11430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Früherkennung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69480" y="4389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Datengestützte Begabungsanalyse - gerade Kinder, die bisher übersehen wurden.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5166360"/>
            <a:ext cx="4846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5166360"/>
            <a:ext cx="73152" cy="11430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5303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56692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als Tutor und Gesprächspartner, wo Lehrer und Eltern an Grenzen stoßen.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34  /  42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BILDUNG NEU DENKEN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Vom Wissens-Zeitalter ins Verständnis-Zeitalter.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Wenn Maschinen alles wissen können - wird die Fähigkeit zu verstehen, zu urteilen, zu deuten zur wichtigsten menschlichen Kompetenz.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6118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GESTERN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Wissens-Zeitalter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45262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634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mehr wusste, gewann. Schule als Abfrage-System. Bildung als Gedächtnis-Training.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697480"/>
            <a:ext cx="36118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69748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1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HEUTE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Informations-Überfluss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617720" y="45262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6634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 ist billig, ubiquitär, unüberschaubar. Wir ertrinken in Daten, dürsten nach Sinn.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697480"/>
            <a:ext cx="3611880" cy="347472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2697480"/>
            <a:ext cx="3611880" cy="9144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MORGEN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Verständnis-Zeitalter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412480" y="452628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6634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urteilt, entscheidet. Wer Zusammenhänge sieht, führt. Wer Sinn stiftet, inspiriert.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35  /  42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MEIN CREDO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Architekt des Verständnisses.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glaube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28803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den Menschen. An seine Würde. An seine Urteilskraft.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glaube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03120" y="340156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Europa. Nicht als Traum, sondern als tägliche Wahl.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39227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glaube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392277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den Mittelstand. Dort wird Zukunft gebaut, wo Menschen einander kennen.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44439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glaube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03120" y="44439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Kinder. Sie sind nicht das Morgen - sie sind der Maßstab des Heute.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4965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glaube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03120" y="49651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Rotary. Vier Fragen. Ein Kompass. Für eine Welt, die ihn braucht.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 glaube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54864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dass KI uns helfen kann, weiser zu werden - wenn wir sie weise führen.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  /  42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ALTE, NEUE FRAGE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ist das Gute?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4000" dirty="0"/>
          </a:p>
        </p:txBody>
      </p:sp>
      <p:sp>
        <p:nvSpPr>
          <p:cNvPr id="7" name="Text 5"/>
          <p:cNvSpPr/>
          <p:nvPr/>
        </p:nvSpPr>
        <p:spPr>
          <a:xfrm>
            <a:off x="1828800" y="25603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Zwischen Sokrates und Silicon Valley liegt ein Graben. Europa hat die Aufgabe, ihn zu schließen.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solidFill>
            <a:srgbClr val="0B1C3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572000"/>
            <a:ext cx="11064240" cy="7315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philosophische Trias unseres Jahrhunderts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166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können wir?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technische Frage.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5166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sollen wir?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ethische Frage.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5166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wollen wir?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3816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politische Frage.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37  /  42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AKT  VI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9144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Hoffnung Europa.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Hoffnung ist kein Gefühl. Hoffnung ist eine Haltung. Und eine Haltung wird zur Tat.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  /  42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WIR TUN KOENNEN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Jetzt. Als Rotarier. Als Menschen.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73152" cy="187452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 Rotarier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Vier-Fragen-Probe auf jedes KI-Projekt anwenden. Clubs als Lern-Communities etablieren. Bildungsprojekte in Schulen unterstützen.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286000"/>
            <a:ext cx="73152" cy="187452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468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 Unternehmer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46520" y="297180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1089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 Use Case wählen, Pilot in 8 Wochen, europäische Werkzeuge bevorzugen. Mitarbeitende befähigen, statt sie zu ersetzen.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43400"/>
            <a:ext cx="73152" cy="187452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26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 Eltern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2960" y="502920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663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Kindern über KI sprechen - als Werkzeug, nicht als Autorität. Medienkompetenz vor Medienkonsum. Wahrheit, Fairness, Nutzen einüben.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3434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4343400"/>
            <a:ext cx="73152" cy="187452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526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 Bürger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46520" y="5029200"/>
            <a:ext cx="64008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51663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Europäische Unternehmen bewusst wählen. Politisch einfordern: Bildung, Infrastruktur, Souveränität. Demokratie praktizieren - täglich.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39  /  42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EUROPAEISCHE VERHEISSUNG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sind nicht zu spät.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sind gerade richtig.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4904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D7DE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Amerika baut Geschwindigkeit. China baut Skalierung. Europa baut - wenn wir uns trauen - etwas, das beiden fehlt: Vertrauen. Vertrauen, dass Technik dem Menschen dient. Vertrauen, dass Regeln Freiheit schaffen. Vertrauen, dass Zukunft gemeinsam wächst. Dieses Vertrauen ist unser Exportgut. Unser Kapital. Unsere Verheißung.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  /  42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WICHTIGSTE PFLICHT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Hoffnung geben. Hoffnung schaffen.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11064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73152" cy="22860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1645920" y="25603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Unsere Kinder werden nicht fragen, was wir wussten. Sie werden fragen, was wir gewagt haben - als die Welt sich drehte.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spc="300" kern="0" dirty="0">
                <a:solidFill>
                  <a:srgbClr val="174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FREUNDSCHAFT.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51960" y="4937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spc="300" kern="0" dirty="0">
                <a:solidFill>
                  <a:srgbClr val="C9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WAHRHEIT.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55280" y="4937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spc="300" kern="0" dirty="0">
                <a:solidFill>
                  <a:srgbClr val="0B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EUROPA.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0" y="5669280"/>
            <a:ext cx="676656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gestalten sie. Gemeinsam. Heute.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45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Tobias Oberrauch</a:t>
            </a:r>
            <a:pPr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|   </a:t>
            </a:r>
            <a:pPr indent="0" marL="0">
              <a:buNone/>
            </a:pPr>
            <a:r>
              <a:rPr lang="en-US" sz="900" i="1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 - europäisch, souverän, nachhaltig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41  /  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8600" cy="22860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62940"/>
            <a:ext cx="27432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EIN AUFBRUCH, KEIN ABSCHLUSS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Danke.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22860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931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C6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Ihre Zeit. Für Ihre Aufmerksamkeit. Für das, was wir gemeinsam bauen werden.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07142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937760"/>
            <a:ext cx="73152" cy="1280160"/>
          </a:xfrm>
          <a:prstGeom prst="rect">
            <a:avLst/>
          </a:prstGeom>
          <a:solidFill>
            <a:srgbClr val="C9A1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Tobias Oberrauch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C6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Geschäftsführer  -  Rotarier  -  Vater  -  Elterngruppenleiter DGhK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7DE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 Dienst einer europäischen Zukunft.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Künstliche Intelligenz - europäisch, souverän, nachhaltig</dc:title>
  <dc:subject>PptxGenJS Presentation</dc:subject>
  <dc:creator>Tobias Oberrauch</dc:creator>
  <cp:lastModifiedBy>Tobias Oberrauch</cp:lastModifiedBy>
  <cp:revision>1</cp:revision>
  <dcterms:created xsi:type="dcterms:W3CDTF">2026-04-20T11:37:49Z</dcterms:created>
  <dcterms:modified xsi:type="dcterms:W3CDTF">2026-04-20T11:37:49Z</dcterms:modified>
</cp:coreProperties>
</file>